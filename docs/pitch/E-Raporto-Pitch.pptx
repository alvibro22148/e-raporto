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[0:00-0:15] E-Raporto — one channel for every civic issue in Elbasan. A citizen reports with a photo and a pin, AI classifies and routes it, and the citizen — not just the clerk — confirms it's actually fixed. We're Alvi and Eris.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[0:15-1:00] A pothole, a broken streetlight, an overflowing bin in Elbasan today has nowhere reliable to go — it gets posted in a Facebook group, mentioned to a neighbor, or the person gives up. There's no reference number, no visible status, and the same pothole becomes five unrelated tickets when five neighbors each report it separately. Elbasan is Albania's third-largest municipality — over 115,000 residents, 85.6% of them online — and none of that scattered civic energy reaches the municipality in a form it can act on. That's the urgency: this isn't a gap of care, it's a gap of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[1:00-2:30] E-Raporto is a single channel connecting Elbasan's citizens straight to the municipality that owns the problem. Watch one report go all the way through. A citizen photographs a pothole on Rruga Kavaja, drops a pin, writes one sentence — nothing else required, saved immediately before anything else happens. Claude reads it, classifies it Roads and Infrastructure at ninety-two percent confidence, and routes it straight to the infrastructure directorate's engineer — because that clears our confidence threshold, this happens without waiting on a clerk. It's checked against nearby open reports; if neighbors already reported the same pothole, the citizen is offered a merge instead of a sixth ticket. Every change — status, assignment, a new duplicate found — reaches the citizen's phone and the staff dashboard within milliseconds over one live connection. And when the crew fixes it, the system doesn't take the municipality's word for it — it asks the citizen who reported it whether that's actually true. That answer, not the status label, is what we count as resolved.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[2:30-3:00] Two real people, not invented personas. The citizen — anyone in Elbasan with a phone, reporting under a pseudonym the municipality itself can't see. And the clerk — Arta Hoxha, the municipality's own Digital Platform Coordinator, is exactly who already decides which tools the directorates adopt, and who'd approve a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[3:00-3:30] Every report is read by Claude before any human sees it — category, priority, a one-line summary — with a rule-based fallback if the API is ever down. Below sixty-five percent confidence, nothing is auto-routed; it waits for a person. Three more signals run the same way — possible duplicates, clusters that might share one root cause, and photos reused across two different reports. All three only ever propose. A human always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[3:30-3:55] Albania has sixty-one municipalities, Kosovo thirty-eight, over four hundred fifty across the Western Balkans. Every one of them runs departments, has a mostly-online population, and gets the same scattered reports we found in Elbasan. Nothing about E-Raporto is Elbasan-specific in code — a new municipality is a seed script: its own departments, categories, and routing rules as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[3:55-4:35] Two concrete things in the next four weeks. First — testing our own app, we found we could file a fake Elbasan report from Tirana. So next sprint: a location check against the municipality boundary before a report is accepted, the same honest-signal pattern as our other three. Second, activating the real push notifications already built and wired — one setup step we haven't run yet. To get a real pilot ready: build, around two-and-a-half to three-and-a-half thousand euros over four weeks; pilot setup, under a thousand; running it, fifty to a hundred euros a month; maintaining it, roughly two thousand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[4:35-4:45] Alvi and Eris. Two developers who built, tested, and broke this ourselves before asking Bashkia Elbasan to run it. Thank you. [This slide stays up during the 3-minute Q&amp;A — see the prepared answers to the three expected questions: data privacy, no-IT-capacity municipalities, and maintenance cost.]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3.png"/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89520" y="-2011680"/>
            <a:ext cx="7315200" cy="7315200"/>
          </a:xfrm>
          <a:prstGeom prst="ellipse">
            <a:avLst/>
          </a:prstGeom>
          <a:solidFill>
            <a:srgbClr val="1D4E89">
              <a:alpha val="18000"/>
            </a:srgbClr>
          </a:solidFill>
        </p:spPr>
      </p:sp>
      <p:pic>
        <p:nvPicPr>
          <p:cNvPr id="3" name="Image 0" descr="C:\Users\alvib\Desktop\E-Raporto\docs\pitch\assets\logo-emble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50292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60604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E-RAPORTO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0" y="3401568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channel for every civic issue in Elbasan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303520" y="4069080"/>
            <a:ext cx="1581912" cy="0"/>
          </a:xfrm>
          <a:prstGeom prst="line">
            <a:avLst/>
          </a:prstGeom>
          <a:noFill/>
          <a:ln w="15875">
            <a:solidFill>
              <a:srgbClr val="2F6F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4279392"/>
            <a:ext cx="9445752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citizen reports with a photo and a pin. AI classifies and routes it. The citizen — not just the clerk — confirms it's actually fixed.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0" y="507492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AI4Society Youth Innovation Hackathon · Tirana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Alvi Peni   ·   Eris Ekmekciu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for Bashkia Elbasan (Elbasan Municipality)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D4E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civic issue in Elbasan today has nowhere reliable to go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786384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pothole, a broken streetlight, an overflowing bin — a resident who notices it today posts it in a Facebook group, mentions it to a neighbor, or simply gives up. No reference number, no visible status, no way to know if anyone is even looking at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851392" y="187452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0B2545"/>
          </a:solidFill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851392" y="2048256"/>
            <a:ext cx="2697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115,101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052560" y="2560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residents in Bashkia Elbasan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290779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Albania's 3rd-largest municipality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3703320"/>
            <a:ext cx="566928" cy="566928"/>
          </a:xfrm>
          <a:prstGeom prst="ellipse">
            <a:avLst/>
          </a:prstGeom>
          <a:solidFill>
            <a:srgbClr val="DBE7F5"/>
          </a:solidFill>
        </p:spPr>
      </p:sp>
      <p:pic>
        <p:nvPicPr>
          <p:cNvPr id="12" name="Image 0" descr="C:\Users\alvib\Desktop\E-Raporto\docs\pitch\assets\icon-people-roa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655" y="3779855"/>
            <a:ext cx="413857" cy="413857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60120" y="43891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Scattered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480060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live across Facebook groups, phone calls and hallway conversations — never in one place.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9120" y="342900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3703320"/>
            <a:ext cx="566928" cy="566928"/>
          </a:xfrm>
          <a:prstGeom prst="ellipse">
            <a:avLst/>
          </a:prstGeom>
          <a:solidFill>
            <a:srgbClr val="DBE7F5"/>
          </a:solidFill>
        </p:spPr>
      </p:sp>
      <p:pic>
        <p:nvPicPr>
          <p:cNvPr id="17" name="Image 1" descr="C:\Users\alvib\Desktop\E-Raporto\docs\pitch\assets\icon-clock-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695" y="3779855"/>
            <a:ext cx="413857" cy="413857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709160" y="43891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Untracked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4709160" y="480060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reference number, no status, no way to know if anyone is even looking at it.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138160" y="342900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458200" y="3703320"/>
            <a:ext cx="566928" cy="566928"/>
          </a:xfrm>
          <a:prstGeom prst="ellipse">
            <a:avLst/>
          </a:prstGeom>
          <a:solidFill>
            <a:srgbClr val="DBE7F5"/>
          </a:solidFill>
        </p:spPr>
      </p:sp>
      <p:pic>
        <p:nvPicPr>
          <p:cNvPr id="22" name="Image 2" descr="C:\Users\alvib\Desktop\E-Raporto\docs\pitch\assets\icon-duplicate-sp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735" y="3779855"/>
            <a:ext cx="413857" cy="413857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458200" y="4389120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Duplicated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8458200" y="4800600"/>
            <a:ext cx="27889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residents report the same pothole separately — the municipality sees five unrelated tickets.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6F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 + DEMO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report, start to finish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2084832" cy="3977640"/>
          </a:xfrm>
          <a:prstGeom prst="roundRect">
            <a:avLst>
              <a:gd name="adj" fmla="val 3947"/>
            </a:avLst>
          </a:prstGeom>
          <a:solidFill>
            <a:srgbClr val="13315C"/>
          </a:solidFill>
        </p:spPr>
      </p:sp>
      <p:sp>
        <p:nvSpPr>
          <p:cNvPr id="7" name="Shape 5"/>
          <p:cNvSpPr/>
          <p:nvPr/>
        </p:nvSpPr>
        <p:spPr>
          <a:xfrm>
            <a:off x="704088" y="2368296"/>
            <a:ext cx="420624" cy="420624"/>
          </a:xfrm>
          <a:prstGeom prst="ellipse">
            <a:avLst/>
          </a:prstGeom>
          <a:solidFill>
            <a:srgbClr val="1D4E89"/>
          </a:solidFill>
        </p:spPr>
      </p:sp>
      <p:sp>
        <p:nvSpPr>
          <p:cNvPr id="8" name="Text 6"/>
          <p:cNvSpPr txBox="1"/>
          <p:nvPr/>
        </p:nvSpPr>
        <p:spPr>
          <a:xfrm>
            <a:off x="704088" y="2368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929384" y="2350008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10" name="Image 0" descr="C:\Users\alvib\Desktop\E-Raporto\docs\pitch\assets\icon-camera-brand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106" y="2411730"/>
            <a:ext cx="333756" cy="333756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85800" y="3017520"/>
            <a:ext cx="1719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Photo + pin + one sentence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794760"/>
            <a:ext cx="1719072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category to pick, nothing else required. Saved immediately — an AI call must never cost someone their report.</a:t>
            </a:r>
            <a:endParaRPr lang="en-US" sz="950" dirty="0"/>
          </a:p>
        </p:txBody>
      </p:sp>
      <p:pic>
        <p:nvPicPr>
          <p:cNvPr id="13" name="Image 1" descr="C:\Users\alvib\Desktop\E-Raporto\docs\pitch\assets\icon-arrowRight-br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3977640"/>
            <a:ext cx="182880" cy="1828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715768" y="2148840"/>
            <a:ext cx="2084832" cy="3977640"/>
          </a:xfrm>
          <a:prstGeom prst="roundRect">
            <a:avLst>
              <a:gd name="adj" fmla="val 3947"/>
            </a:avLst>
          </a:prstGeom>
          <a:solidFill>
            <a:srgbClr val="13315C"/>
          </a:solidFill>
        </p:spPr>
      </p:sp>
      <p:sp>
        <p:nvSpPr>
          <p:cNvPr id="15" name="Shape 11"/>
          <p:cNvSpPr/>
          <p:nvPr/>
        </p:nvSpPr>
        <p:spPr>
          <a:xfrm>
            <a:off x="2916936" y="2368296"/>
            <a:ext cx="420624" cy="420624"/>
          </a:xfrm>
          <a:prstGeom prst="ellipse">
            <a:avLst/>
          </a:prstGeom>
          <a:solidFill>
            <a:srgbClr val="1D4E89"/>
          </a:solidFill>
        </p:spPr>
      </p:sp>
      <p:sp>
        <p:nvSpPr>
          <p:cNvPr id="16" name="Text 12"/>
          <p:cNvSpPr txBox="1"/>
          <p:nvPr/>
        </p:nvSpPr>
        <p:spPr>
          <a:xfrm>
            <a:off x="2916936" y="2368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142232" y="2350008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18" name="Image 2" descr="C:\Users\alvib\Desktop\E-Raporto\docs\pitch\assets\icon-spark-bran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954" y="2411730"/>
            <a:ext cx="333756" cy="3337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898648" y="3017520"/>
            <a:ext cx="1719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AIclassifies &amp; routes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2898648" y="3794760"/>
            <a:ext cx="1719072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Roads &amp; Infrastructure, 92% confidence — straight to the directorate's engineer. Below our 65% threshold, it waits for a person instead.</a:t>
            </a:r>
            <a:endParaRPr lang="en-US" sz="950" dirty="0"/>
          </a:p>
        </p:txBody>
      </p:sp>
      <p:pic>
        <p:nvPicPr>
          <p:cNvPr id="21" name="Image 3" descr="C:\Users\alvib\Desktop\E-Raporto\docs\pitch\assets\icon-arrowRight-br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3977640"/>
            <a:ext cx="182880" cy="1828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928616" y="2148840"/>
            <a:ext cx="2084832" cy="3977640"/>
          </a:xfrm>
          <a:prstGeom prst="roundRect">
            <a:avLst>
              <a:gd name="adj" fmla="val 3947"/>
            </a:avLst>
          </a:prstGeom>
          <a:solidFill>
            <a:srgbClr val="13315C"/>
          </a:solidFill>
        </p:spPr>
      </p:sp>
      <p:sp>
        <p:nvSpPr>
          <p:cNvPr id="23" name="Shape 17"/>
          <p:cNvSpPr/>
          <p:nvPr/>
        </p:nvSpPr>
        <p:spPr>
          <a:xfrm>
            <a:off x="5129784" y="2368296"/>
            <a:ext cx="420624" cy="420624"/>
          </a:xfrm>
          <a:prstGeom prst="ellipse">
            <a:avLst/>
          </a:prstGeom>
          <a:solidFill>
            <a:srgbClr val="1D4E89"/>
          </a:solidFill>
        </p:spPr>
      </p:sp>
      <p:sp>
        <p:nvSpPr>
          <p:cNvPr id="24" name="Text 18"/>
          <p:cNvSpPr txBox="1"/>
          <p:nvPr/>
        </p:nvSpPr>
        <p:spPr>
          <a:xfrm>
            <a:off x="5129784" y="2368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Shape 19"/>
          <p:cNvSpPr/>
          <p:nvPr/>
        </p:nvSpPr>
        <p:spPr>
          <a:xfrm>
            <a:off x="6355080" y="2350008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26" name="Image 4" descr="C:\Users\alvib\Desktop\E-Raporto\docs\pitch\assets\icon-duplicate-bran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802" y="2411730"/>
            <a:ext cx="333756" cy="33375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11496" y="3017520"/>
            <a:ext cx="1719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Checked against nearby reports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5111496" y="3794760"/>
            <a:ext cx="1719072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neighbors already reported it, the citizen is offered a merge — not a sixth duplicate ticket.</a:t>
            </a:r>
            <a:endParaRPr lang="en-US" sz="950" dirty="0"/>
          </a:p>
        </p:txBody>
      </p:sp>
      <p:pic>
        <p:nvPicPr>
          <p:cNvPr id="29" name="Image 5" descr="C:\Users\alvib\Desktop\E-Raporto\docs\pitch\assets\icon-arrowRight-br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3977640"/>
            <a:ext cx="182880" cy="18288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141464" y="2148840"/>
            <a:ext cx="2084832" cy="3977640"/>
          </a:xfrm>
          <a:prstGeom prst="roundRect">
            <a:avLst>
              <a:gd name="adj" fmla="val 3947"/>
            </a:avLst>
          </a:prstGeom>
          <a:solidFill>
            <a:srgbClr val="13315C"/>
          </a:solidFill>
        </p:spPr>
      </p:sp>
      <p:sp>
        <p:nvSpPr>
          <p:cNvPr id="31" name="Shape 23"/>
          <p:cNvSpPr/>
          <p:nvPr/>
        </p:nvSpPr>
        <p:spPr>
          <a:xfrm>
            <a:off x="7342632" y="2368296"/>
            <a:ext cx="420624" cy="420624"/>
          </a:xfrm>
          <a:prstGeom prst="ellipse">
            <a:avLst/>
          </a:prstGeom>
          <a:solidFill>
            <a:srgbClr val="1D4E89"/>
          </a:solidFill>
        </p:spPr>
      </p:sp>
      <p:sp>
        <p:nvSpPr>
          <p:cNvPr id="32" name="Text 24"/>
          <p:cNvSpPr txBox="1"/>
          <p:nvPr/>
        </p:nvSpPr>
        <p:spPr>
          <a:xfrm>
            <a:off x="7342632" y="2368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700" dirty="0"/>
          </a:p>
        </p:txBody>
      </p:sp>
      <p:sp>
        <p:nvSpPr>
          <p:cNvPr id="33" name="Shape 25"/>
          <p:cNvSpPr/>
          <p:nvPr/>
        </p:nvSpPr>
        <p:spPr>
          <a:xfrm>
            <a:off x="8567928" y="2350008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34" name="Image 6" descr="C:\Users\alvib\Desktop\E-Raporto\docs\pitch\assets\icon-sync-bran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2411730"/>
            <a:ext cx="333756" cy="33375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324344" y="3017520"/>
            <a:ext cx="1719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to phone and dashboard</a:t>
            </a:r>
            <a:endParaRPr lang="en-US" sz="1150" dirty="0"/>
          </a:p>
        </p:txBody>
      </p:sp>
      <p:sp>
        <p:nvSpPr>
          <p:cNvPr id="36" name="Text 27"/>
          <p:cNvSpPr txBox="1"/>
          <p:nvPr/>
        </p:nvSpPr>
        <p:spPr>
          <a:xfrm>
            <a:off x="7324344" y="3794760"/>
            <a:ext cx="1719072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change reaches both within milliseconds over one connection — no refresh button.</a:t>
            </a:r>
            <a:endParaRPr lang="en-US" sz="950" dirty="0"/>
          </a:p>
        </p:txBody>
      </p:sp>
      <p:pic>
        <p:nvPicPr>
          <p:cNvPr id="37" name="Image 7" descr="C:\Users\alvib\Desktop\E-Raporto\docs\pitch\assets\icon-arrowRight-br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3977640"/>
            <a:ext cx="182880" cy="18288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354312" y="2148840"/>
            <a:ext cx="2084832" cy="3977640"/>
          </a:xfrm>
          <a:prstGeom prst="roundRect">
            <a:avLst>
              <a:gd name="adj" fmla="val 3947"/>
            </a:avLst>
          </a:prstGeom>
          <a:solidFill>
            <a:srgbClr val="13315C"/>
          </a:solidFill>
        </p:spPr>
      </p:sp>
      <p:sp>
        <p:nvSpPr>
          <p:cNvPr id="39" name="Shape 29"/>
          <p:cNvSpPr/>
          <p:nvPr/>
        </p:nvSpPr>
        <p:spPr>
          <a:xfrm>
            <a:off x="9555480" y="2368296"/>
            <a:ext cx="420624" cy="420624"/>
          </a:xfrm>
          <a:prstGeom prst="ellipse">
            <a:avLst/>
          </a:prstGeom>
          <a:solidFill>
            <a:srgbClr val="1D4E89"/>
          </a:solidFill>
        </p:spPr>
      </p:sp>
      <p:sp>
        <p:nvSpPr>
          <p:cNvPr id="40" name="Text 30"/>
          <p:cNvSpPr txBox="1"/>
          <p:nvPr/>
        </p:nvSpPr>
        <p:spPr>
          <a:xfrm>
            <a:off x="9555480" y="23682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700" dirty="0"/>
          </a:p>
        </p:txBody>
      </p:sp>
      <p:sp>
        <p:nvSpPr>
          <p:cNvPr id="41" name="Shape 31"/>
          <p:cNvSpPr/>
          <p:nvPr/>
        </p:nvSpPr>
        <p:spPr>
          <a:xfrm>
            <a:off x="10780776" y="2350008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42" name="Image 8" descr="C:\Users\alvib\Desktop\E-Raporto\docs\pitch\assets\icon-check-brand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2498" y="2411730"/>
            <a:ext cx="333756" cy="33375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9537192" y="3017520"/>
            <a:ext cx="1719072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citizen confirms it's fixed</a:t>
            </a:r>
            <a:endParaRPr lang="en-US" sz="1150" dirty="0"/>
          </a:p>
        </p:txBody>
      </p:sp>
      <p:sp>
        <p:nvSpPr>
          <p:cNvPr id="44" name="Text 33"/>
          <p:cNvSpPr txBox="1"/>
          <p:nvPr/>
        </p:nvSpPr>
        <p:spPr>
          <a:xfrm>
            <a:off x="9537192" y="3794760"/>
            <a:ext cx="1719072" cy="2240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9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the municipality's word alone — the reporter is asked, with a photo and GPS check.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D4E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 real people, not invented personas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286000"/>
            <a:ext cx="621792" cy="621792"/>
          </a:xfrm>
          <a:prstGeom prst="ellipse">
            <a:avLst/>
          </a:prstGeom>
          <a:solidFill>
            <a:srgbClr val="DBE7F5"/>
          </a:solidFill>
        </p:spPr>
      </p:sp>
      <p:pic>
        <p:nvPicPr>
          <p:cNvPr id="7" name="Image 0" descr="C:\Users\alvib\Desktop\E-Raporto\docs\pitch\assets\icon-people-bran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782" y="2369942"/>
            <a:ext cx="453908" cy="4539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5840" y="309067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4E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IT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34015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Any resident of Elbasan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4160520"/>
            <a:ext cx="4526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Reports under a pseudonym the municipality itself can't see — so it's never held against a name in a city where everyone knows everyone. Confirms other reports. Verifies when staff say it's fixed.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355080" y="192024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2286000"/>
            <a:ext cx="621792" cy="621792"/>
          </a:xfrm>
          <a:prstGeom prst="ellipse">
            <a:avLst/>
          </a:prstGeom>
          <a:solidFill>
            <a:srgbClr val="DBE7F5"/>
          </a:solidFill>
        </p:spPr>
      </p:sp>
      <p:pic>
        <p:nvPicPr>
          <p:cNvPr id="13" name="Image 1" descr="C:\Users\alvib\Desktop\E-Raporto\docs\pitch\assets\icon-building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782" y="2369942"/>
            <a:ext cx="453908" cy="4539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20840" y="3090672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D4E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DECIDES &amp; RUNS IT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6720840" y="3401568"/>
            <a:ext cx="45262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Elbasan’s Municipality Digital Platform Coordinator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6720840" y="4160520"/>
            <a:ext cx="45262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role that already exists inside Bashkia Elbasan to decide which tools the directorates adopt. Her team — six directorates, from Infrastructure to Water &amp; Sewage — is who works the queue every day.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6F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9601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Honest AI — it proposes, a person decides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report is read by AI before a human sees it — with a deterministic fallback so the system never depends on one API call.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7" name="Image 0" descr="C:\Users\alvib\Desktop\E-Raporto\docs\pitch\assets\icon-spark-brand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974" y="2399614"/>
            <a:ext cx="367132" cy="3671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29514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Category, priority, one-line summary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6517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call classifies the report against Elbasan's own taxonomy.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502920" cy="50292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11" name="Image 1" descr="C:\Users\alvib\Desktop\E-Raporto\docs\pitch\assets\icon-check-br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8654" y="2399614"/>
            <a:ext cx="367132" cy="3671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766560" y="2295144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Below 65% confidence, it waits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6766560" y="265176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Held for a person instead of auto-routed on a guess.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10908792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40080" y="3703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2F6F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MORE SIGNALS — EVERY ONE ONLY EVER PROPOSES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40080" y="4096512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3315C"/>
          </a:solidFill>
        </p:spPr>
      </p:sp>
      <p:sp>
        <p:nvSpPr>
          <p:cNvPr id="17" name="Shape 13"/>
          <p:cNvSpPr/>
          <p:nvPr/>
        </p:nvSpPr>
        <p:spPr>
          <a:xfrm>
            <a:off x="896112" y="4315968"/>
            <a:ext cx="438912" cy="438912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18" name="Image 2" descr="C:\Users\alvib\Desktop\E-Raporto\docs\pitch\assets\icon-duplicate-bran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365" y="4375221"/>
            <a:ext cx="320406" cy="32040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4279392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Possible duplicate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896112" y="4892040"/>
            <a:ext cx="291693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problem, reported twice — distance + text overlap, scored openly.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379976" y="4096512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3315C"/>
          </a:solidFill>
        </p:spPr>
      </p:sp>
      <p:sp>
        <p:nvSpPr>
          <p:cNvPr id="22" name="Shape 17"/>
          <p:cNvSpPr/>
          <p:nvPr/>
        </p:nvSpPr>
        <p:spPr>
          <a:xfrm>
            <a:off x="4636008" y="4315968"/>
            <a:ext cx="438912" cy="438912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23" name="Image 3" descr="C:\Users\alvib\Desktop\E-Raporto\docs\pitch\assets\icon-network-bran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261" y="4375221"/>
            <a:ext cx="320406" cy="32040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02936" y="4279392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Root-cause cluster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4636008" y="4892040"/>
            <a:ext cx="291693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 reports that might share one cause — never merged, just linked.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119872" y="4096512"/>
            <a:ext cx="3429000" cy="1783080"/>
          </a:xfrm>
          <a:prstGeom prst="roundRect">
            <a:avLst>
              <a:gd name="adj" fmla="val 4615"/>
            </a:avLst>
          </a:prstGeom>
          <a:solidFill>
            <a:srgbClr val="13315C"/>
          </a:solidFill>
        </p:spPr>
      </p:sp>
      <p:sp>
        <p:nvSpPr>
          <p:cNvPr id="27" name="Shape 21"/>
          <p:cNvSpPr/>
          <p:nvPr/>
        </p:nvSpPr>
        <p:spPr>
          <a:xfrm>
            <a:off x="8375904" y="4315968"/>
            <a:ext cx="438912" cy="438912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28" name="Image 4" descr="C:\Users\alvib\Desktop\E-Raporto\docs\pitch\assets\icon-camera-brand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157" y="4375221"/>
            <a:ext cx="320406" cy="320406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942832" y="4279392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Reused photo, Fraud Detection and Anti-Abuse System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8375904" y="4892040"/>
            <a:ext cx="2916936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deterministic image match — not a claim to detect AI-generated fakes. Rate limit of posting reports/hour and detection to fraud.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68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D4E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MARKET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181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Honest arithmetic, not a billion-euro guess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221992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municipalities in Albania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389120" y="2221992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01752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Kosovo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965960"/>
            <a:ext cx="3429000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effectLst>
            <a:outerShdw blurRad="177800" dist="63500" dir="5400000" algn="bl" rotWithShape="0">
              <a:srgbClr val="0B2545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138160" y="2221992"/>
            <a:ext cx="3429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450+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3017520"/>
            <a:ext cx="3063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the Western Balkans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023360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852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one of them runs departments, has a mostly-online population, and gets the same scattered Facebook-group reports we found in Elbasan. Nothing in E-Raporto is Elbasan-specific in code — a new municipality is a seed script: its own departments, categories, and routing rules as data, not a fork.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F6F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WHAT'S NEXT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working prototype to a real pilot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13315C"/>
          </a:solidFill>
        </p:spPr>
      </p:sp>
      <p:sp>
        <p:nvSpPr>
          <p:cNvPr id="6" name="Text 4"/>
          <p:cNvSpPr txBox="1"/>
          <p:nvPr/>
        </p:nvSpPr>
        <p:spPr>
          <a:xfrm>
            <a:off x="914400" y="203911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F6F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 4 WEEKS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496312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8" name="Image 0" descr="C:\Users\alvib\Desktop\E-Raporto\docs\pitch\assets\icon-pin-brand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122" y="2558034"/>
            <a:ext cx="333756" cy="33375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245973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Close a gap we found ourselves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862072"/>
            <a:ext cx="43434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Testing our own app, we could file a fake Elbasan report from Tirana. Next sprint: a location check against the municipality boundary before a report is accepted — the same honest-signal pattern as our other three.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14400" y="4187952"/>
            <a:ext cx="457200" cy="457200"/>
          </a:xfrm>
          <a:prstGeom prst="ellipse">
            <a:avLst/>
          </a:prstGeom>
          <a:solidFill>
            <a:srgbClr val="17335C"/>
          </a:solidFill>
        </p:spPr>
      </p:sp>
      <p:pic>
        <p:nvPicPr>
          <p:cNvPr id="12" name="Image 1" descr="C:\Users\alvib\Desktop\E-Raporto\docs\pitch\assets\icon-bell-bran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22" y="4249674"/>
            <a:ext cx="333756" cy="3337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08760" y="415137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Activate real push notifications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508760" y="4553712"/>
            <a:ext cx="434340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built and wired end to end — one setup step (linking a production build) turns it on.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63640" y="1783080"/>
            <a:ext cx="5285232" cy="4343400"/>
          </a:xfrm>
          <a:prstGeom prst="roundRect">
            <a:avLst>
              <a:gd name="adj" fmla="val 2105"/>
            </a:avLst>
          </a:prstGeom>
          <a:solidFill>
            <a:srgbClr val="13315C"/>
          </a:solidFill>
        </p:spPr>
      </p:sp>
      <p:sp>
        <p:nvSpPr>
          <p:cNvPr id="16" name="Text 12"/>
          <p:cNvSpPr txBox="1"/>
          <p:nvPr/>
        </p:nvSpPr>
        <p:spPr>
          <a:xfrm>
            <a:off x="6537960" y="2039112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6FB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WILL COST · ROUGH, HONEST RANGES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537960" y="2496312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0F2749"/>
          </a:solidFill>
        </p:spPr>
      </p:sp>
      <p:sp>
        <p:nvSpPr>
          <p:cNvPr id="18" name="Text 14"/>
          <p:cNvSpPr txBox="1"/>
          <p:nvPr/>
        </p:nvSpPr>
        <p:spPr>
          <a:xfrm>
            <a:off x="6720840" y="2587752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Build it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6720840" y="2898648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7C9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ONE-OFF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8549640" y="2587752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6F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~€2.5–3.5k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8549640" y="2898648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Prototype to pilot-ready — 2 people × 4 weeks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6537960" y="3392424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0F2749"/>
          </a:solidFill>
        </p:spPr>
      </p:sp>
      <p:sp>
        <p:nvSpPr>
          <p:cNvPr id="23" name="Text 19"/>
          <p:cNvSpPr txBox="1"/>
          <p:nvPr/>
        </p:nvSpPr>
        <p:spPr>
          <a:xfrm>
            <a:off x="6720840" y="3483864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Pilot setup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6720840" y="3794760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7C9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ONE-OFF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8549640" y="3483864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6F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~€500–1,000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8549640" y="379476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prep, integration, staff training</a:t>
            </a:r>
            <a:endParaRPr lang="en-US" sz="850" dirty="0"/>
          </a:p>
        </p:txBody>
      </p:sp>
      <p:sp>
        <p:nvSpPr>
          <p:cNvPr id="27" name="Shape 23"/>
          <p:cNvSpPr/>
          <p:nvPr/>
        </p:nvSpPr>
        <p:spPr>
          <a:xfrm>
            <a:off x="6537960" y="4288536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0F2749"/>
          </a:solidFill>
        </p:spPr>
      </p:sp>
      <p:sp>
        <p:nvSpPr>
          <p:cNvPr id="28" name="Text 24"/>
          <p:cNvSpPr txBox="1"/>
          <p:nvPr/>
        </p:nvSpPr>
        <p:spPr>
          <a:xfrm>
            <a:off x="6720840" y="4379976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Run it</a:t>
            </a:r>
            <a:endParaRPr lang="en-US" sz="1250" dirty="0"/>
          </a:p>
        </p:txBody>
      </p:sp>
      <p:sp>
        <p:nvSpPr>
          <p:cNvPr id="29" name="Text 25"/>
          <p:cNvSpPr txBox="1"/>
          <p:nvPr/>
        </p:nvSpPr>
        <p:spPr>
          <a:xfrm>
            <a:off x="6720840" y="4690872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7C9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</a:t>
            </a:r>
            <a:endParaRPr lang="en-US" sz="850" dirty="0"/>
          </a:p>
        </p:txBody>
      </p:sp>
      <p:sp>
        <p:nvSpPr>
          <p:cNvPr id="30" name="Text 26"/>
          <p:cNvSpPr txBox="1"/>
          <p:nvPr/>
        </p:nvSpPr>
        <p:spPr>
          <a:xfrm>
            <a:off x="8549640" y="4379976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6F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~€50–100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8549640" y="4690872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Hosting + Claude API usage at pilot volume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6537960" y="5184648"/>
            <a:ext cx="4754880" cy="749808"/>
          </a:xfrm>
          <a:prstGeom prst="roundRect">
            <a:avLst>
              <a:gd name="adj" fmla="val 7317"/>
            </a:avLst>
          </a:prstGeom>
          <a:solidFill>
            <a:srgbClr val="0F2749"/>
          </a:solidFill>
        </p:spPr>
      </p:sp>
      <p:sp>
        <p:nvSpPr>
          <p:cNvPr id="33" name="Text 29"/>
          <p:cNvSpPr txBox="1"/>
          <p:nvPr/>
        </p:nvSpPr>
        <p:spPr>
          <a:xfrm>
            <a:off x="6720840" y="5276088"/>
            <a:ext cx="17373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Maintain it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6720840" y="5586984"/>
            <a:ext cx="1737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7C93B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 YEAR</a:t>
            </a:r>
            <a:endParaRPr lang="en-US" sz="850" dirty="0"/>
          </a:p>
        </p:txBody>
      </p:sp>
      <p:sp>
        <p:nvSpPr>
          <p:cNvPr id="35" name="Text 31"/>
          <p:cNvSpPr txBox="1"/>
          <p:nvPr/>
        </p:nvSpPr>
        <p:spPr>
          <a:xfrm>
            <a:off x="8549640" y="5276088"/>
            <a:ext cx="14173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F6FB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~€1.5–2.5k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8549640" y="5586984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0000"/>
              </a:lnSpc>
              <a:buNone/>
            </a:pPr>
            <a:r>
              <a:rPr lang="en-US" sz="850" dirty="0">
                <a:solidFill>
                  <a:srgbClr val="B7C6D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Updates, support, fixes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6400800" cy="6400800"/>
          </a:xfrm>
          <a:prstGeom prst="ellipse">
            <a:avLst/>
          </a:prstGeom>
          <a:solidFill>
            <a:srgbClr val="1D4E89">
              <a:alpha val="15000"/>
            </a:srgbClr>
          </a:solidFill>
        </p:spPr>
      </p:sp>
      <p:pic>
        <p:nvPicPr>
          <p:cNvPr id="3" name="Image 0" descr="C:\Users\alvib\Desktop\E-Raporto\docs\pitch\assets\logo-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502920" cy="502920"/>
          </a:xfrm>
          <a:prstGeom prst="ellipse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566928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E-Raporto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0" y="109982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0" y="1856740"/>
            <a:ext cx="1219169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DBE7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developers who built, tested and broke this ourselves — before asking Bashkia Elbasan to run it.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2575408" y="490728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Alvi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575408" y="5273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Developer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396203" y="4906645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Eris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68568" y="527304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Full-stack Developer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AI4Society Youth Innovation Hackathon · Tirana 2026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0" y="6355080"/>
            <a:ext cx="12191695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8" name="Shape 8"/>
          <p:cNvSpPr/>
          <p:nvPr/>
        </p:nvSpPr>
        <p:spPr>
          <a:xfrm>
            <a:off x="3324225" y="2675890"/>
            <a:ext cx="1830070" cy="223075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5875">
            <a:solidFill>
              <a:srgbClr val="2F6FB5"/>
            </a:solidFill>
            <a:prstDash val="solid"/>
          </a:ln>
        </p:spPr>
      </p:sp>
      <p:sp>
        <p:nvSpPr>
          <p:cNvPr id="20" name="Shape 8"/>
          <p:cNvSpPr/>
          <p:nvPr/>
        </p:nvSpPr>
        <p:spPr>
          <a:xfrm>
            <a:off x="7119620" y="2653030"/>
            <a:ext cx="1830070" cy="223075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5875">
            <a:solidFill>
              <a:srgbClr val="2F6FB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4376</Words>
  <Application>WPS Presentation</Application>
  <PresentationFormat>On-screen Show (16:9)</PresentationFormat>
  <Paragraphs>208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E-Raporto — AI4Society Youth Innovation Hackathon</dc:title>
  <dc:creator>Alvi &amp; Eris</dc:creator>
  <dc:subject>PptxGenJS Presentation</dc:subject>
  <cp:lastModifiedBy>Alvi Peni</cp:lastModifiedBy>
  <cp:revision>3</cp:revision>
  <dcterms:created xsi:type="dcterms:W3CDTF">2026-09-26T13:05:00Z</dcterms:created>
  <dcterms:modified xsi:type="dcterms:W3CDTF">2026-09-27T00:08:05Z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3C0A2D78834F4449B148456DD7A31A5B_12</vt:lpwstr>
  </property>
</Properties>
</file>